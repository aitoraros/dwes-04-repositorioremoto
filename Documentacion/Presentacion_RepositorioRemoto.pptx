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lus Jakarta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6E4D62-ABA7-48D1-8468-3D4BCFCACA61}">
  <a:tblStyle styleId="{936E4D62-ABA7-48D1-8468-3D4BCFCACA6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-bold.fntdata"/><Relationship Id="rId11" Type="http://schemas.openxmlformats.org/officeDocument/2006/relationships/slide" Target="slides/slide5.xml"/><Relationship Id="rId22" Type="http://schemas.openxmlformats.org/officeDocument/2006/relationships/font" Target="fonts/PlusJakartaSans-boldItalic.fntdata"/><Relationship Id="rId10" Type="http://schemas.openxmlformats.org/officeDocument/2006/relationships/slide" Target="slides/slide4.xml"/><Relationship Id="rId21" Type="http://schemas.openxmlformats.org/officeDocument/2006/relationships/font" Target="fonts/PlusJakarta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usJakartaSans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25.png"/><Relationship Id="rId7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9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20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47481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1868834"/>
            <a:ext cx="782984" cy="285750"/>
          </a:xfrm>
          <a:prstGeom prst="roundRect">
            <a:avLst>
              <a:gd fmla="val 2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09600" y="2154584"/>
            <a:ext cx="9901237" cy="113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Servicio de Almacenamiento Remoto y Local en .NET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09600" y="3522315"/>
            <a:ext cx="7905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asíncrona de usuarios con arquitectura jerárquica en 3 niveles, caché híbrida y programación reactiva.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42950" y="1925984"/>
            <a:ext cx="611534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2º DAW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506884" y="1925984"/>
            <a:ext cx="337393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 DESARROLLO SOFTWARE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09599" y="4772750"/>
            <a:ext cx="525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Nicolás Ortega Fernández</a:t>
            </a:r>
            <a:endParaRPr sz="2600"/>
          </a:p>
        </p:txBody>
      </p:sp>
      <p:sp>
        <p:nvSpPr>
          <p:cNvPr id="91" name="Google Shape;91;p13"/>
          <p:cNvSpPr txBox="1"/>
          <p:nvPr/>
        </p:nvSpPr>
        <p:spPr>
          <a:xfrm>
            <a:off x="5577020" y="4772750"/>
            <a:ext cx="1077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Aitor Aróstegui Navarro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609600" y="2831752"/>
            <a:ext cx="5638800" cy="2156370"/>
          </a:xfrm>
          <a:prstGeom prst="roundRect">
            <a:avLst>
              <a:gd fmla="val 706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629400" y="1933575"/>
            <a:ext cx="4953000" cy="1190625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629400" y="3314700"/>
            <a:ext cx="4953000" cy="1190625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629400" y="4695825"/>
            <a:ext cx="4953000" cy="1190625"/>
          </a:xfrm>
          <a:prstGeom prst="roundRect">
            <a:avLst>
              <a:gd fmla="val 11200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17465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7525" y="2209800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7525" y="35909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7525" y="497205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28895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INTRODUCCIÓN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Objeto del Proyecto y Alcance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3822352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Diseñar e implementar un servicio backend Web API RESTful en .NET para la gestión asíncrona de usuarios, garantizando alto rendimiento, alta disponibilidad e integridad de datos.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543050" y="3269902"/>
            <a:ext cx="240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 Principal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258050" y="2171700"/>
            <a:ext cx="4933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Jerárquica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258050" y="2447925"/>
            <a:ext cx="418147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Estrategia de lectura híbrida en tres niveles de persistencia.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229475" y="3552825"/>
            <a:ext cx="49625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Sincronización en Segundo Plano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7229475" y="3829050"/>
            <a:ext cx="42100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Proceso automático de recarga periódica cada 60 segundos.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7200900" y="4933950"/>
            <a:ext cx="4991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Eventos Reactivos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7200900" y="5210175"/>
            <a:ext cx="42386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Emisión de notificaciones tras mutaciones con Rx.NET.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609600" y="2224087"/>
            <a:ext cx="3505200" cy="1571625"/>
          </a:xfrm>
          <a:prstGeom prst="roundRect">
            <a:avLst>
              <a:gd fmla="val 84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4343400" y="2224087"/>
            <a:ext cx="3505200" cy="1571625"/>
          </a:xfrm>
          <a:prstGeom prst="roundRect">
            <a:avLst>
              <a:gd fmla="val 84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8077200" y="2224087"/>
            <a:ext cx="3505200" cy="1571625"/>
          </a:xfrm>
          <a:prstGeom prst="roundRect">
            <a:avLst>
              <a:gd fmla="val 84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609600" y="4024312"/>
            <a:ext cx="3505200" cy="1571625"/>
          </a:xfrm>
          <a:prstGeom prst="roundRect">
            <a:avLst>
              <a:gd fmla="val 84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343400" y="4024312"/>
            <a:ext cx="3505200" cy="1571625"/>
          </a:xfrm>
          <a:prstGeom prst="roundRect">
            <a:avLst>
              <a:gd fmla="val 84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077200" y="4024312"/>
            <a:ext cx="3505200" cy="1571625"/>
          </a:xfrm>
          <a:prstGeom prst="roundRect">
            <a:avLst>
              <a:gd fmla="val 84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5825" y="250031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9625" y="2500312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3425" y="2500312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825" y="4300537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9625" y="4300537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3425" y="4300537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TECNOLOGÍAS UTILIZADAS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Ecosistema y Herramientas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885825" y="2767012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C# 14 / .NET 10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85825" y="3081337"/>
            <a:ext cx="369093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del servicio Web API backend.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619625" y="2767012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 Core &amp; Dapper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4619625" y="3081337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 relacional y consultas de alta velocidad.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353425" y="2767012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 &amp; PostgreSQL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353425" y="3081337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Motores relacionales para desarrollo y producción.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85825" y="456723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MemoryCache &amp; Redis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885825" y="4881562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Caché primaria de baja latencia y distribuida.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4619625" y="4567237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Refit HTTP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4619625" y="4881562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Cliente declarativo tipado para API remota.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8353425" y="4567237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Docker &amp; Compose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8353425" y="4881562"/>
            <a:ext cx="3048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Contenedorización y orquestación multi-entorno.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/>
          <p:nvPr/>
        </p:nvSpPr>
        <p:spPr>
          <a:xfrm>
            <a:off x="2114213" y="1730525"/>
            <a:ext cx="7140300" cy="1505400"/>
          </a:xfrm>
          <a:prstGeom prst="roundRect">
            <a:avLst>
              <a:gd fmla="val 6837" name="adj"/>
            </a:avLst>
          </a:prstGeom>
          <a:solidFill>
            <a:srgbClr val="F0F9FF"/>
          </a:solidFill>
          <a:ln>
            <a:noFill/>
          </a:ln>
        </p:spPr>
        <p:txBody>
          <a:bodyPr anchorCtr="0" anchor="ctr" bIns="61750" lIns="123475" spcFirstLastPara="1" rIns="123475" wrap="square" tIns="6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2114213" y="1730525"/>
            <a:ext cx="51300" cy="1505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61750" lIns="123475" spcFirstLastPara="1" rIns="123475" wrap="square" tIns="6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2114213" y="3467352"/>
            <a:ext cx="7140300" cy="1505400"/>
          </a:xfrm>
          <a:prstGeom prst="roundRect">
            <a:avLst>
              <a:gd fmla="val 683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61750" lIns="123475" spcFirstLastPara="1" rIns="123475" wrap="square" tIns="6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2114213" y="3467352"/>
            <a:ext cx="51300" cy="15054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anchorCtr="0" anchor="ctr" bIns="61750" lIns="123475" spcFirstLastPara="1" rIns="123475" wrap="square" tIns="6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2114213" y="5204179"/>
            <a:ext cx="7140300" cy="1505400"/>
          </a:xfrm>
          <a:prstGeom prst="roundRect">
            <a:avLst>
              <a:gd fmla="val 683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61750" lIns="123475" spcFirstLastPara="1" rIns="123475" wrap="square" tIns="6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2114213" y="5204179"/>
            <a:ext cx="51300" cy="1505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61750" lIns="123475" spcFirstLastPara="1" rIns="123475" wrap="square" tIns="61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DE SOFTWARE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Almacenamiento Jerárquico en 3 Niveles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2371520" y="1987833"/>
            <a:ext cx="6754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8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NIVEL L1</a:t>
            </a:r>
            <a:endParaRPr sz="1891"/>
          </a:p>
        </p:txBody>
      </p:sp>
      <p:sp>
        <p:nvSpPr>
          <p:cNvPr id="158" name="Google Shape;158;p16"/>
          <p:cNvSpPr txBox="1"/>
          <p:nvPr/>
        </p:nvSpPr>
        <p:spPr>
          <a:xfrm>
            <a:off x="2371520" y="3724660"/>
            <a:ext cx="6754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8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NIVEL L2</a:t>
            </a:r>
            <a:endParaRPr sz="1891"/>
          </a:p>
        </p:txBody>
      </p:sp>
      <p:sp>
        <p:nvSpPr>
          <p:cNvPr id="159" name="Google Shape;159;p16"/>
          <p:cNvSpPr txBox="1"/>
          <p:nvPr/>
        </p:nvSpPr>
        <p:spPr>
          <a:xfrm>
            <a:off x="2371520" y="5461487"/>
            <a:ext cx="6754500" cy="2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18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NIVEL L3</a:t>
            </a:r>
            <a:endParaRPr sz="1891"/>
          </a:p>
        </p:txBody>
      </p:sp>
      <p:sp>
        <p:nvSpPr>
          <p:cNvPr id="160" name="Google Shape;160;p16"/>
          <p:cNvSpPr txBox="1"/>
          <p:nvPr/>
        </p:nvSpPr>
        <p:spPr>
          <a:xfrm>
            <a:off x="2422981" y="2309467"/>
            <a:ext cx="7654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MemoryCache / Redis</a:t>
            </a:r>
            <a:endParaRPr sz="1891"/>
          </a:p>
        </p:txBody>
      </p:sp>
      <p:sp>
        <p:nvSpPr>
          <p:cNvPr id="161" name="Google Shape;161;p16"/>
          <p:cNvSpPr txBox="1"/>
          <p:nvPr/>
        </p:nvSpPr>
        <p:spPr>
          <a:xfrm>
            <a:off x="2422981" y="2682564"/>
            <a:ext cx="7654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23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Respuesta de ultra baja latencia para lecturas frecuentes.</a:t>
            </a:r>
            <a:endParaRPr sz="1891"/>
          </a:p>
        </p:txBody>
      </p:sp>
      <p:sp>
        <p:nvSpPr>
          <p:cNvPr id="162" name="Google Shape;162;p16"/>
          <p:cNvSpPr txBox="1"/>
          <p:nvPr/>
        </p:nvSpPr>
        <p:spPr>
          <a:xfrm>
            <a:off x="2422981" y="4046294"/>
            <a:ext cx="7654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SQLite / PostgreSQL</a:t>
            </a:r>
            <a:endParaRPr sz="1891"/>
          </a:p>
        </p:txBody>
      </p:sp>
      <p:sp>
        <p:nvSpPr>
          <p:cNvPr id="163" name="Google Shape;163;p16"/>
          <p:cNvSpPr txBox="1"/>
          <p:nvPr/>
        </p:nvSpPr>
        <p:spPr>
          <a:xfrm>
            <a:off x="2422981" y="4419391"/>
            <a:ext cx="7654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23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Persistencia relacional local para consulta y soporte offline.</a:t>
            </a:r>
            <a:endParaRPr sz="1891"/>
          </a:p>
        </p:txBody>
      </p:sp>
      <p:sp>
        <p:nvSpPr>
          <p:cNvPr id="164" name="Google Shape;164;p16"/>
          <p:cNvSpPr txBox="1"/>
          <p:nvPr/>
        </p:nvSpPr>
        <p:spPr>
          <a:xfrm>
            <a:off x="2422981" y="5783121"/>
            <a:ext cx="76548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6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JSONPlaceholder API (Refit)</a:t>
            </a:r>
            <a:endParaRPr sz="1891"/>
          </a:p>
        </p:txBody>
      </p:sp>
      <p:sp>
        <p:nvSpPr>
          <p:cNvPr id="165" name="Google Shape;165;p16"/>
          <p:cNvSpPr txBox="1"/>
          <p:nvPr/>
        </p:nvSpPr>
        <p:spPr>
          <a:xfrm>
            <a:off x="2422981" y="6156218"/>
            <a:ext cx="7654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23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Fuente de verdad remota para sincronización y carga inicial.</a:t>
            </a:r>
            <a:endParaRPr sz="189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/>
          <p:nvPr/>
        </p:nvSpPr>
        <p:spPr>
          <a:xfrm>
            <a:off x="609600" y="2605087"/>
            <a:ext cx="3505200" cy="2609850"/>
          </a:xfrm>
          <a:prstGeom prst="roundRect">
            <a:avLst>
              <a:gd fmla="val 58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4343400" y="2605087"/>
            <a:ext cx="3505200" cy="2609850"/>
          </a:xfrm>
          <a:prstGeom prst="roundRect">
            <a:avLst>
              <a:gd fmla="val 58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8077200" y="2605087"/>
            <a:ext cx="3505200" cy="2609850"/>
          </a:xfrm>
          <a:prstGeom prst="roundRect">
            <a:avLst>
              <a:gd fmla="val 583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919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7725" y="2919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29194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9175" y="30146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2975" y="3014662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72487" y="3014662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DE REQUISITOS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Flujos Funcionales RESTful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923925" y="3452812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Consulta por ID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923925" y="3871912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en cascada L1 → L2 → L3. Poblamiento automático de niveles superiores ante fallos de caché.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4657725" y="3452812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Mutaciones CRUD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4657725" y="3871912"/>
            <a:ext cx="29718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Envío a la API remota, actualización de base de datos local y refresco inmediato de caché.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8391525" y="3452812"/>
            <a:ext cx="37754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Exportación JSON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8391525" y="3871912"/>
            <a:ext cx="2971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Serialización nativa de usuarios mediante System.Text.Json con generación de archivo físico en disco.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609600" y="2995612"/>
            <a:ext cx="3454449" cy="1828800"/>
          </a:xfrm>
          <a:prstGeom prst="roundRect">
            <a:avLst>
              <a:gd fmla="val 83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4368849" y="2895600"/>
            <a:ext cx="3454449" cy="2028825"/>
          </a:xfrm>
          <a:prstGeom prst="roundRect">
            <a:avLst>
              <a:gd fmla="val 75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8128099" y="2995612"/>
            <a:ext cx="3454449" cy="1828800"/>
          </a:xfrm>
          <a:prstGeom prst="roundRect">
            <a:avLst>
              <a:gd fmla="val 833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REGLAS DE NEGOCIO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Sincronización y Ciclo de Vida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570700" y="3309937"/>
            <a:ext cx="35322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60s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70700" y="4033837"/>
            <a:ext cx="353224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Frecuencia de Sincronización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570700" y="4310062"/>
            <a:ext cx="35322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Limpieza y recarga en segundo plano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4329949" y="3209925"/>
            <a:ext cx="35322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4329949" y="3933825"/>
            <a:ext cx="353224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Reinicio al Arranque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4329949" y="4210050"/>
            <a:ext cx="35322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Vaciado y repoblado desde API externa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089199" y="3309937"/>
            <a:ext cx="35322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404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8089199" y="4033837"/>
            <a:ext cx="3532249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Error Dominio Explícito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8089199" y="4310062"/>
            <a:ext cx="353224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Retorno cuando falta en las 3 capas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/>
          <p:nvPr/>
        </p:nvSpPr>
        <p:spPr>
          <a:xfrm>
            <a:off x="609600" y="2824162"/>
            <a:ext cx="5334000" cy="2171700"/>
          </a:xfrm>
          <a:prstGeom prst="roundRect">
            <a:avLst>
              <a:gd fmla="val 70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6248400" y="2824162"/>
            <a:ext cx="5334000" cy="2171700"/>
          </a:xfrm>
          <a:prstGeom prst="roundRect">
            <a:avLst>
              <a:gd fmla="val 701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025" y="3195637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0825" y="31956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36671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42386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0825" y="366712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00825" y="4238625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IMPLEMENTACIÓN TÉCNICA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Patrones de Diseño Destacados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1276350" y="3176587"/>
            <a:ext cx="2612826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Patrón Result y ROP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209675" y="3633787"/>
            <a:ext cx="4476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Tipo Result: Control explícito de errores funcionales sin lanzar excepciones.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209675" y="4205287"/>
            <a:ext cx="4476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Railway-Oriented: Vías claras para ejecuciones exitosas y fallos de validación.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7000875" y="3176587"/>
            <a:ext cx="3462932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System.Reactive (Rx.NET)</a:t>
            </a:r>
            <a:endParaRPr/>
          </a:p>
        </p:txBody>
      </p:sp>
      <p:sp>
        <p:nvSpPr>
          <p:cNvPr id="223" name="Google Shape;223;p19"/>
          <p:cNvSpPr txBox="1"/>
          <p:nvPr/>
        </p:nvSpPr>
        <p:spPr>
          <a:xfrm>
            <a:off x="6848475" y="3633787"/>
            <a:ext cx="447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Patrón </a:t>
            </a:r>
            <a:r>
              <a:rPr b="1" lang="en-US" sz="13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Observable</a:t>
            </a: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Publicación asíncrona desacoplada mediante IObservable.</a:t>
            </a:r>
            <a:endParaRPr/>
          </a:p>
        </p:txBody>
      </p:sp>
      <p:sp>
        <p:nvSpPr>
          <p:cNvPr id="224" name="Google Shape;224;p19"/>
          <p:cNvSpPr txBox="1"/>
          <p:nvPr/>
        </p:nvSpPr>
        <p:spPr>
          <a:xfrm>
            <a:off x="6848475" y="4205287"/>
            <a:ext cx="44767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Eventos Mutación: Notificación inmediata de creación, edición y borrado.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/>
          <p:nvPr/>
        </p:nvSpPr>
        <p:spPr>
          <a:xfrm>
            <a:off x="609600" y="2608957"/>
            <a:ext cx="5334000" cy="2602110"/>
          </a:xfrm>
          <a:prstGeom prst="roundRect">
            <a:avLst>
              <a:gd fmla="val 585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6248400" y="2746027"/>
            <a:ext cx="5334000" cy="2327820"/>
          </a:xfrm>
          <a:prstGeom prst="roundRect">
            <a:avLst>
              <a:gd fmla="val 6546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1" name="Google Shape;23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923282"/>
            <a:ext cx="470535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3060352"/>
            <a:ext cx="47053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CONFIGURACIÓN Y DESPLIEGUE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Inyección de Dependencias y Docker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923925" y="3380482"/>
            <a:ext cx="617577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Inyección de Dependencias (DI)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923925" y="3799582"/>
            <a:ext cx="48006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Testabilidad y Modularidad: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Sustitución ágil de repositorios y clientes HTTP por Mocks durante pruebas. Intercambio de base de datos (SQLite/PostgreSQL) vía appsettings.json.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6562725" y="3517552"/>
            <a:ext cx="56292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Contenedorización Docker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6562725" y="3936652"/>
            <a:ext cx="4800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Orquestación Docker Compose: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Despliegue reproducible e independiente de PostgreSQL y Redis en entornos aislados con compilación multi-etapa.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>
            <a:off x="3175556" y="3053967"/>
            <a:ext cx="5835000" cy="1194000"/>
          </a:xfrm>
          <a:prstGeom prst="roundRect">
            <a:avLst>
              <a:gd fmla="val 10084" name="adj"/>
            </a:avLst>
          </a:prstGeom>
          <a:solidFill>
            <a:srgbClr val="F8FAFC"/>
          </a:solidFill>
          <a:ln cap="flat" cmpd="sng" w="12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825" lIns="115650" spcFirstLastPara="1" rIns="115650" wrap="square" tIns="57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1"/>
          <p:cNvSpPr/>
          <p:nvPr/>
        </p:nvSpPr>
        <p:spPr>
          <a:xfrm>
            <a:off x="3175556" y="1247847"/>
            <a:ext cx="2812200" cy="1565700"/>
          </a:xfrm>
          <a:prstGeom prst="roundRect">
            <a:avLst>
              <a:gd fmla="val 8974" name="adj"/>
            </a:avLst>
          </a:prstGeom>
          <a:solidFill>
            <a:srgbClr val="F0FDF4"/>
          </a:solidFill>
          <a:ln cap="flat" cmpd="sng" w="1205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825" lIns="115650" spcFirstLastPara="1" rIns="115650" wrap="square" tIns="57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198179" y="1247847"/>
            <a:ext cx="2812200" cy="1565700"/>
          </a:xfrm>
          <a:prstGeom prst="roundRect">
            <a:avLst>
              <a:gd fmla="val 8974" name="adj"/>
            </a:avLst>
          </a:prstGeom>
          <a:solidFill>
            <a:srgbClr val="F0FDF4"/>
          </a:solidFill>
          <a:ln cap="flat" cmpd="sng" w="12050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825" lIns="115650" spcFirstLastPara="1" rIns="115650" wrap="square" tIns="578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7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CALIDAD Y PRUEBAS (QA)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609600" y="762000"/>
            <a:ext cx="11582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Métricas de Cobertura de Código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3396339" y="3264681"/>
            <a:ext cx="70791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8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Suite Pruebas Unitarias e Integración</a:t>
            </a:r>
            <a:endParaRPr sz="1771"/>
          </a:p>
        </p:txBody>
      </p:sp>
      <p:sp>
        <p:nvSpPr>
          <p:cNvPr id="249" name="Google Shape;249;p21"/>
          <p:cNvSpPr txBox="1"/>
          <p:nvPr/>
        </p:nvSpPr>
        <p:spPr>
          <a:xfrm>
            <a:off x="3396339" y="3575735"/>
            <a:ext cx="5498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8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Patrón AAA con NUnit, Moq y FluentAssertions. Pruebas de integración con Testcontainers.</a:t>
            </a:r>
            <a:endParaRPr sz="1771"/>
          </a:p>
        </p:txBody>
      </p:sp>
      <p:sp>
        <p:nvSpPr>
          <p:cNvPr id="250" name="Google Shape;250;p21"/>
          <p:cNvSpPr txBox="1"/>
          <p:nvPr/>
        </p:nvSpPr>
        <p:spPr>
          <a:xfrm>
            <a:off x="3152558" y="1498697"/>
            <a:ext cx="28581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54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85%</a:t>
            </a:r>
            <a:endParaRPr sz="1771"/>
          </a:p>
        </p:txBody>
      </p:sp>
      <p:sp>
        <p:nvSpPr>
          <p:cNvPr id="251" name="Google Shape;251;p21"/>
          <p:cNvSpPr txBox="1"/>
          <p:nvPr/>
        </p:nvSpPr>
        <p:spPr>
          <a:xfrm>
            <a:off x="3152558" y="2150907"/>
            <a:ext cx="2858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18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Line Coverage</a:t>
            </a:r>
            <a:endParaRPr sz="1771"/>
          </a:p>
        </p:txBody>
      </p:sp>
      <p:sp>
        <p:nvSpPr>
          <p:cNvPr id="252" name="Google Shape;252;p21"/>
          <p:cNvSpPr txBox="1"/>
          <p:nvPr/>
        </p:nvSpPr>
        <p:spPr>
          <a:xfrm>
            <a:off x="3152558" y="2381689"/>
            <a:ext cx="2858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8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619 de 726 líneas</a:t>
            </a:r>
            <a:endParaRPr sz="1771"/>
          </a:p>
        </p:txBody>
      </p:sp>
      <p:sp>
        <p:nvSpPr>
          <p:cNvPr id="253" name="Google Shape;253;p21"/>
          <p:cNvSpPr txBox="1"/>
          <p:nvPr/>
        </p:nvSpPr>
        <p:spPr>
          <a:xfrm>
            <a:off x="6175181" y="1498697"/>
            <a:ext cx="2858100" cy="7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54" u="none" cap="none" strike="noStrike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86%</a:t>
            </a:r>
            <a:endParaRPr sz="1771"/>
          </a:p>
        </p:txBody>
      </p:sp>
      <p:sp>
        <p:nvSpPr>
          <p:cNvPr id="254" name="Google Shape;254;p21"/>
          <p:cNvSpPr txBox="1"/>
          <p:nvPr/>
        </p:nvSpPr>
        <p:spPr>
          <a:xfrm>
            <a:off x="6175181" y="2150907"/>
            <a:ext cx="2858100" cy="2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18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Branch Coverage</a:t>
            </a:r>
            <a:endParaRPr sz="1771"/>
          </a:p>
        </p:txBody>
      </p:sp>
      <p:sp>
        <p:nvSpPr>
          <p:cNvPr id="255" name="Google Shape;255;p21"/>
          <p:cNvSpPr txBox="1"/>
          <p:nvPr/>
        </p:nvSpPr>
        <p:spPr>
          <a:xfrm>
            <a:off x="6175181" y="2381689"/>
            <a:ext cx="2858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8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126 de 146 ramas</a:t>
            </a:r>
            <a:endParaRPr sz="1771"/>
          </a:p>
        </p:txBody>
      </p:sp>
      <p:pic>
        <p:nvPicPr>
          <p:cNvPr id="256" name="Google Shape;2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1824" y="4488325"/>
            <a:ext cx="5788350" cy="18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/>
          <p:nvPr/>
        </p:nvSpPr>
        <p:spPr>
          <a:xfrm>
            <a:off x="6296025" y="2076450"/>
            <a:ext cx="5286300" cy="1228800"/>
          </a:xfrm>
          <a:prstGeom prst="roundRect">
            <a:avLst>
              <a:gd fmla="val 930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6296025" y="3495675"/>
            <a:ext cx="5286300" cy="1009800"/>
          </a:xfrm>
          <a:prstGeom prst="roundRect">
            <a:avLst>
              <a:gd fmla="val 113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6296025" y="4695825"/>
            <a:ext cx="5286300" cy="1009800"/>
          </a:xfrm>
          <a:prstGeom prst="roundRect">
            <a:avLst>
              <a:gd fmla="val 1132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PROYECTO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09600" y="762000"/>
            <a:ext cx="115824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de Trabajo con GitFlow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6534150" y="2314575"/>
            <a:ext cx="5658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Repositorio GitHub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6534150" y="2628900"/>
            <a:ext cx="4905300" cy="4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de cambios y evolución continua entre desarrolladores.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6534150" y="3733800"/>
            <a:ext cx="5658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Ramas Feature &amp; Pull Requests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6534150" y="4048125"/>
            <a:ext cx="5658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modular desacoplado en ramas dedicadas.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6534150" y="4933950"/>
            <a:ext cx="56580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Trazabilidad de Commits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6534150" y="5248275"/>
            <a:ext cx="56580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Histórico estructurado e integración progresiva.</a:t>
            </a:r>
            <a:endParaRPr/>
          </a:p>
        </p:txBody>
      </p:sp>
      <p:pic>
        <p:nvPicPr>
          <p:cNvPr id="272" name="Google Shape;2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850" y="2076450"/>
            <a:ext cx="5536625" cy="36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/>
          <p:nvPr/>
        </p:nvSpPr>
        <p:spPr>
          <a:xfrm>
            <a:off x="609600" y="4686300"/>
            <a:ext cx="10972800" cy="885825"/>
          </a:xfrm>
          <a:prstGeom prst="roundRect">
            <a:avLst>
              <a:gd fmla="val 1505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609600" y="2209800"/>
            <a:ext cx="10972800" cy="2209800"/>
          </a:xfrm>
          <a:prstGeom prst="roundRect">
            <a:avLst>
              <a:gd fmla="val 0" name="adj"/>
            </a:avLst>
          </a:prstGeom>
          <a:solidFill>
            <a:srgbClr val="F8FAFC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" name="Google Shape;279;p23"/>
          <p:cNvGraphicFramePr/>
          <p:nvPr/>
        </p:nvGraphicFramePr>
        <p:xfrm>
          <a:off x="609600" y="220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{936E4D62-ABA7-48D1-8468-3D4BCFCACA61}</a:tableStyleId>
              </a:tblPr>
              <a:tblGrid>
                <a:gridCol w="3433900"/>
                <a:gridCol w="5741200"/>
                <a:gridCol w="1797700"/>
              </a:tblGrid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Concepto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Detalle de Cálculo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Subtotal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Desarrollo y Producción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44 horas efectivas a 14,00 €/h (.NET Junior)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616,00 €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Licencias Tecnológicas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 licencias JetBrains Rider (150 €/año)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300,00 €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Mantenimiento (2 Años)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20% anual sobre coste base inicial (916,00 €)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366,40 €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80" name="Google Shape;280;p2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ECONÓMICO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609600" y="76200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Estimación Global de Costes</a:t>
            </a: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914400" y="4995862"/>
            <a:ext cx="4345781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Coste Total Estimado del Proyecto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9448800" y="4914900"/>
            <a:ext cx="2286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1.282,40 €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/>
          <p:nvPr/>
        </p:nvSpPr>
        <p:spPr>
          <a:xfrm>
            <a:off x="5810250" y="4157662"/>
            <a:ext cx="571500" cy="285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9" name="Google Shape;28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2166937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05500" y="231933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3526928" y="2776537"/>
            <a:ext cx="513814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¡Muchas Gracias!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3315890" y="4491037"/>
            <a:ext cx="556021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Nicolás Ortega Fernández y Aitor Aróstegui Navarro • 2º DAW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